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external examiner, Head of the Department, and faculty members. Today, we are presenting our B.Tech final-year project: 'BhoomiMitra AI – An AI-Powered Multimodal Agricultural Assistant'. BhoomiMitra AI is an intelligent conversational platform built natively on WhatsApp that empowers Indian farmers with verified, hallucination-free agronomic advice, live mandi commodity rates, 5-day weather warnings, input dealer stock discovery, and agricultural extension officer escalation in Telugu and English.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we are addressing is three-fold: First, agricultural intelligence in India is heavily fragmented across separate web portals. Second, if a farmer uses standard generic AI tools, there is a dangerous risk of chemical dosage hallucinations. Third, existing digital agriculture apps require English literacy and complex app-store downloads, which alienates smallholder farmers. BhoomiMitra AI solves all three challenges by providing a single grounded conversational interface over WhatsApp.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motivation is democratization and usability. WhatsApp is already on every rural smartphone. By leveraging the WhatsApp Cloud API, we eliminate the need for farmers to install new apps. Furthermore, with extension officer ratios exceeding 1 to 2000, an autonomous, grounded AI assistant provides immediate 24/7 advisory that bridges the gap until human extension officers can step in for complex cases.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5 core project objectives: First, build the secure WhatsApp webhook architecture. Second, implement a Retrieval-Augmented Generation engine to ground chemical dosages. Third, maintain multi-turn farmer memory. Fourth, integrate the 5 key agricultural domains: input shops with Haversine distance, mandi prices, weather alerts, government schemes, and expert escalation. And fifth, ensure high operational resilience with multi-model failover and 100% test pass rate across 217 automated test cases.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existing systems with BhoomiMitra AI: Traditional systems require installing separate apps with complex menus and mostly English text. If farmers use generic chatbots, they risk receiving hallucinated chemical dosages. BhoomiMitra AI operates entirely inside WhatsApp, speaks Telugu and English fluently, guarantees grounded chemical safety via RAG, and synthesizes diagnosis, nearby dealer stock, mandi rates, and rain warnings into a single response card.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high-level system architecture: The architecture is cleanly divided into three layers. On the left, the Ingestion Gateway handles Meta Cloud API webhooks at /webhook/whatsapp, verifies SHA-256 signatures, and immediately hands off to an async background worker. In the middle, the Core AI orchestrator loads farmer memory, executes RAG retrieval, and queries Gemini 3.5. On the right, the response passes through our sequential enrichment pipeline, pulling from input shops, mandi rates, weather, schemes, and escalation before dispatching via Meta Graph API.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is built for high concurrency and asynchronous throughput: We use FastAPI 0.115 with Gunicorn and Uvicorn workers. For data persistence, we use PostgreSQL with asyncpg and SQLAlchemy 2.0, with migrations managed via Alembic. Our AI layer leverages Google's Generative AI SDK with Gemini 3.5, and Google Cloud Speech for regional Telugu voice notes. External integrations include Meta Cloud API, OpenWeatherMap, and Agmarknet.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database architecture contains 13 relational entities structured in PostgreSQL: The schema models the complete agricultural journey: from farmer profile and long-term memory, to farms, crops, and leaf diagnosis records. For input commerce, the shops and inventory tables track fertilizer and pesticide availability. And for intelligence, we have dedicated tables for mandi market prices, government welfare schemes, and registered agricultural experts.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our AI and RAG advisory works: To eliminate dangerous chemical dosage hallucinations, we use Retrieval-Augmented Generation. When a query arrives, our RAG service performs semantic vector retrieval over verified agricultural university guidelines from PJTSAU and ICAR. We also implement multi-turn query enrichment so that short follow-up questions like 'How much dosage per acre?' automatically retain the crop context. When a leaf photo is uploaded, Gemini Vision classifies the pathology, and the system couples the exact remedy with nearby shop stock.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Weather and Mandi Market Prices: Our weather engine resolves farmer location in 4 tiers: GPS, profile district, memory, or fallback. It queries OpenWeatherMap, calculates 5-day rain probabilities, and warns farmers against spraying chemicals if rain is expected. For market prices, we integrate Agmarknet to fetch live minimum, maximum, and modal mandi prices per quintal, supporting Telugu and English commodity names with a 6-hour local cache.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for Government Schemes and Agri Shops: The Schemes module matches farmer inquiries to state and central subsidies like PM-KISAN and Rythu Bandhu, providing eligibility rules and application portal URLs. The Shops module uses the mathematical Haversine formula to compute great-circle physical distance to nearby input dealers, ranking them closest-first and showing real-time stock levels and government MRPs.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complex cases, BhoomiMitra AI provides seamless human-in-the-loop escalation: When a farmer requests an officer in English or Telugu, the system generates an official tracking ticket, assigns an active extension officer, and suppresses duplicate tickets raised on the same day. Importantly, we engineered this feature with zero schema migrations by utilizing the farmer's long-term memory history, and we include the official National Kisan Call Centre toll-free number (1800-180-1551) as an immediate fallback.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traces the complete 10-step lifecycle of an inbound WhatsApp message: From webhook reception at /webhook/whatsapp and HMAC-SHA256 signature verification, to asynchronous worker handoff, farmer memory hydration, RAG query enrichment, Gemini inference, isolated post-processing enrichment, PostgreSQL persistence, and final outbound dispatch via Meta Graph API.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is a critical engineering highlight of BhoomiMitra AI: To ensure the bot never goes silent, we implemented a 3-tier model failover chain: starting with gemini-3.5-flash-lite, failing over to gemini-3.5-flash, and finally gemini-flash-latest if rate limits or 503 errors occur. Additionally, every enrichment stage has independent exception boundaries, so an external API failure never crashes the advisory.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automated testing results: The entire project was verified using pytest and pytest-asyncio across 21 test suites. Exactly 217 out of 217 tests pass with zero failures and zero errors. This covers every module: from market prices and weather forecasting, to shop distance calculation, expert escalation ticketing, and bilingual response assembly.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Security and Deployment Readiness: We enforce strict HMAC-SHA256 cryptographic verification on every inbound Meta webhook. All database operations are parameterized through SQLAlchemy ORM, preventing SQL injection vulnerabilities. All credentials are fully externalized via environment variables. And the codebase is Render deployment-ready with a complete render.yaml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limitations and future work: Current limitations include third-party API quotas and demonstration baseline datasets. For future enhancements, we plan to add JWT role-based access control for administrative web dashboards, automated outbound WhatsApp alerts to Mandal Agriculture Officer groups, distributed Redis cluster caching, and Soil Health Card optical character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BhoomiMitra AI delivers a production-grade, accessible agricultural assistant that empowers Indian farmers directly inside WhatsApp. By combining Retrieval-Augmented Generation, localized domain micro-services, and multi-tier Gemini failover, we have created a robust, hallucination-free platform verified by 217 passing automated tests. Thank you for your time and attention. We are now open for questions and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362895" cy="4114800"/>
          </a:xfrm>
          <a:prstGeom prst="rect">
            <a:avLst/>
          </a:prstGeom>
          <a:noFill/>
        </p:spPr>
        <p:txBody>
          <a:bodyPr wrap="square">
            <a:spAutoFit/>
          </a:bodyPr>
          <a:lstStyle/>
          <a:p>
            <a:pPr algn="ctr">
              <a:defRPr sz="4400" b="1">
                <a:solidFill>
                  <a:srgbClr val="D99B00"/>
                </a:solidFill>
              </a:defRPr>
            </a:pPr>
            <a:r>
              <a:t>BHOOMIMITRA AI</a:t>
            </a:r>
          </a:p>
          <a:p>
            <a:pPr algn="ctr">
              <a:defRPr sz="2200" b="1">
                <a:solidFill>
                  <a:srgbClr val="FFFFFF"/>
                </a:solidFill>
              </a:defRPr>
            </a:pPr>
            <a:r>
              <a:t>An AI-Powered Multimodal Agricultural Assistant for Indian Farmers</a:t>
            </a:r>
          </a:p>
          <a:p>
            <a:br/>
            <a:pPr algn="ctr">
              <a:defRPr sz="1400">
                <a:solidFill>
                  <a:srgbClr val="AAC4E8"/>
                </a:solidFill>
              </a:defRPr>
            </a:pPr>
            <a:r>
              <a:t>B.Tech Final-Year Project Defense | Academic Year 2025–2026</a:t>
            </a:r>
          </a:p>
          <a:p>
            <a:br/>
            <a:pPr algn="ctr">
              <a:defRPr sz="1300">
                <a:solidFill>
                  <a:srgbClr val="FFFFFF"/>
                </a:solidFill>
              </a:defRPr>
            </a:pPr>
            <a:r>
              <a:t>Department of Computer Science and Engineering</a:t>
            </a:r>
            <a:br/>
            <a:r>
              <a:t>Technology Stack: WhatsApp Cloud API • FastAPI • PostgreSQL • RAG • Google Gemini 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Problem Statement: Agronomic Information Asymmetry</a:t>
            </a:r>
          </a:p>
        </p:txBody>
      </p:sp>
      <p:sp>
        <p:nvSpPr>
          <p:cNvPr id="5" name="Rounded Rectangle 4"/>
          <p:cNvSpPr/>
          <p:nvPr/>
        </p:nvSpPr>
        <p:spPr>
          <a:xfrm>
            <a:off x="731520" y="1371600"/>
            <a:ext cx="32918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2926080" cy="457200"/>
          </a:xfrm>
          <a:prstGeom prst="rect">
            <a:avLst/>
          </a:prstGeom>
          <a:noFill/>
        </p:spPr>
        <p:txBody>
          <a:bodyPr wrap="square">
            <a:spAutoFit/>
          </a:bodyPr>
          <a:lstStyle/>
          <a:p>
            <a:pPr>
              <a:defRPr sz="1400" b="1">
                <a:solidFill>
                  <a:srgbClr val="1B365D"/>
                </a:solidFill>
              </a:defRPr>
            </a:pPr>
            <a:r>
              <a:t>1. Fragmented Digital Silos</a:t>
            </a:r>
          </a:p>
        </p:txBody>
      </p:sp>
      <p:sp>
        <p:nvSpPr>
          <p:cNvPr id="7" name="TextBox 6"/>
          <p:cNvSpPr txBox="1"/>
          <p:nvPr/>
        </p:nvSpPr>
        <p:spPr>
          <a:xfrm>
            <a:off x="822960" y="1965960"/>
            <a:ext cx="3108960" cy="3840480"/>
          </a:xfrm>
          <a:prstGeom prst="rect">
            <a:avLst/>
          </a:prstGeom>
          <a:noFill/>
        </p:spPr>
        <p:txBody>
          <a:bodyPr wrap="square">
            <a:spAutoFit/>
          </a:bodyPr>
          <a:lstStyle/>
          <a:p>
            <a:pPr>
              <a:defRPr sz="1200">
                <a:solidFill>
                  <a:srgbClr val="222222"/>
                </a:solidFill>
              </a:defRPr>
            </a:pPr>
            <a:r>
              <a:t>• Weather, mandi rates, input availability, and subsidy schemes exist in separate portals.</a:t>
            </a:r>
            <a:br/>
            <a:r>
              <a:t>• Farmers must navigate multiple disjoint apps.</a:t>
            </a:r>
            <a:br/>
            <a:r>
              <a:t>• High digital literacy and English-language demands create usability friction for rural smallholders.</a:t>
            </a:r>
          </a:p>
        </p:txBody>
      </p:sp>
      <p:sp>
        <p:nvSpPr>
          <p:cNvPr id="8" name="Rounded Rectangle 7"/>
          <p:cNvSpPr/>
          <p:nvPr/>
        </p:nvSpPr>
        <p:spPr>
          <a:xfrm>
            <a:off x="4389120" y="1371600"/>
            <a:ext cx="32918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508760"/>
            <a:ext cx="2926080" cy="457200"/>
          </a:xfrm>
          <a:prstGeom prst="rect">
            <a:avLst/>
          </a:prstGeom>
          <a:noFill/>
        </p:spPr>
        <p:txBody>
          <a:bodyPr wrap="square">
            <a:spAutoFit/>
          </a:bodyPr>
          <a:lstStyle/>
          <a:p>
            <a:pPr>
              <a:defRPr sz="1400" b="1">
                <a:solidFill>
                  <a:srgbClr val="C0392B"/>
                </a:solidFill>
              </a:defRPr>
            </a:pPr>
            <a:r>
              <a:t>2. LLM Hallucination Risk</a:t>
            </a:r>
          </a:p>
        </p:txBody>
      </p:sp>
      <p:sp>
        <p:nvSpPr>
          <p:cNvPr id="10" name="TextBox 9"/>
          <p:cNvSpPr txBox="1"/>
          <p:nvPr/>
        </p:nvSpPr>
        <p:spPr>
          <a:xfrm>
            <a:off x="4480560" y="1965960"/>
            <a:ext cx="3108960" cy="3840480"/>
          </a:xfrm>
          <a:prstGeom prst="rect">
            <a:avLst/>
          </a:prstGeom>
          <a:noFill/>
        </p:spPr>
        <p:txBody>
          <a:bodyPr wrap="square">
            <a:spAutoFit/>
          </a:bodyPr>
          <a:lstStyle/>
          <a:p>
            <a:pPr>
              <a:defRPr sz="1200">
                <a:solidFill>
                  <a:srgbClr val="222222"/>
                </a:solidFill>
              </a:defRPr>
            </a:pPr>
            <a:r>
              <a:t>• Generic Large Language Models (LLMs) hallucinate chemical recommendations.</a:t>
            </a:r>
            <a:br/>
            <a:r>
              <a:t>• Risk of suggesting toxic pesticides or incorrect dilution ratios.</a:t>
            </a:r>
            <a:br/>
            <a:r>
              <a:t>• Lack of strict grounding against authentic Indian university package-of-practices guidelines (ICAR / PJTSAU).</a:t>
            </a:r>
          </a:p>
        </p:txBody>
      </p:sp>
      <p:sp>
        <p:nvSpPr>
          <p:cNvPr id="11" name="Rounded Rectangle 10"/>
          <p:cNvSpPr/>
          <p:nvPr/>
        </p:nvSpPr>
        <p:spPr>
          <a:xfrm>
            <a:off x="8046720" y="1371600"/>
            <a:ext cx="32918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508760"/>
            <a:ext cx="2926080" cy="457200"/>
          </a:xfrm>
          <a:prstGeom prst="rect">
            <a:avLst/>
          </a:prstGeom>
          <a:noFill/>
        </p:spPr>
        <p:txBody>
          <a:bodyPr wrap="square">
            <a:spAutoFit/>
          </a:bodyPr>
          <a:lstStyle/>
          <a:p>
            <a:pPr>
              <a:defRPr sz="1400" b="1">
                <a:solidFill>
                  <a:srgbClr val="2E6B38"/>
                </a:solidFill>
              </a:defRPr>
            </a:pPr>
            <a:r>
              <a:t>3. Lack of Vernacular Localization</a:t>
            </a:r>
          </a:p>
        </p:txBody>
      </p:sp>
      <p:sp>
        <p:nvSpPr>
          <p:cNvPr id="13" name="TextBox 12"/>
          <p:cNvSpPr txBox="1"/>
          <p:nvPr/>
        </p:nvSpPr>
        <p:spPr>
          <a:xfrm>
            <a:off x="8138160" y="1965960"/>
            <a:ext cx="3108960" cy="3840480"/>
          </a:xfrm>
          <a:prstGeom prst="rect">
            <a:avLst/>
          </a:prstGeom>
          <a:noFill/>
        </p:spPr>
        <p:txBody>
          <a:bodyPr wrap="square">
            <a:spAutoFit/>
          </a:bodyPr>
          <a:lstStyle/>
          <a:p>
            <a:pPr>
              <a:defRPr sz="1200">
                <a:solidFill>
                  <a:srgbClr val="222222"/>
                </a:solidFill>
              </a:defRPr>
            </a:pPr>
            <a:r>
              <a:t>• Inability of existing tools to fluidly converse in regional Telugu dialects.</a:t>
            </a:r>
            <a:br/>
            <a:r>
              <a:t>• Lack of multi-turn conversational memory tracking farm location, soil type, and crop preferences.</a:t>
            </a:r>
            <a:br/>
            <a:r>
              <a:t>• Delayed pest interventions leading to irreversible crop loss.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Motivation: Bringing AI to the Farmer's Fingertips</a:t>
            </a:r>
          </a:p>
        </p:txBody>
      </p:sp>
      <p:sp>
        <p:nvSpPr>
          <p:cNvPr id="5" name="Rounded Rectangle 4"/>
          <p:cNvSpPr/>
          <p:nvPr/>
        </p:nvSpPr>
        <p:spPr>
          <a:xfrm>
            <a:off x="7315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1B365D"/>
                </a:solidFill>
              </a:defRPr>
            </a:pPr>
            <a:r>
              <a:t>Why WhatsApp as the Interface?</a:t>
            </a:r>
          </a:p>
        </p:txBody>
      </p:sp>
      <p:sp>
        <p:nvSpPr>
          <p:cNvPr id="7" name="TextBox 6"/>
          <p:cNvSpPr txBox="1"/>
          <p:nvPr/>
        </p:nvSpPr>
        <p:spPr>
          <a:xfrm>
            <a:off x="914400" y="1965960"/>
            <a:ext cx="4754880" cy="3840480"/>
          </a:xfrm>
          <a:prstGeom prst="rect">
            <a:avLst/>
          </a:prstGeom>
          <a:noFill/>
        </p:spPr>
        <p:txBody>
          <a:bodyPr wrap="square">
            <a:spAutoFit/>
          </a:bodyPr>
          <a:lstStyle/>
          <a:p>
            <a:pPr>
              <a:defRPr sz="1300">
                <a:solidFill>
                  <a:srgbClr val="222222"/>
                </a:solidFill>
              </a:defRPr>
            </a:pPr>
            <a:r>
              <a:t>• Universal Penetration: Over 500 million active users in India; widespread adoption in rural agrarian belts.</a:t>
            </a:r>
            <a:br/>
            <a:r>
              <a:t>• Zero Friction: No app store downloads, logins, or manual updates required.</a:t>
            </a:r>
            <a:br/>
            <a:r>
              <a:t>• Multimodal Accessibility: Farmers can send text messages, voice notes, or leaf disease photos with equal ease.</a:t>
            </a:r>
            <a:br/>
            <a:r>
              <a:t>• Low Bandwidth Efficiency: Operates reliably even over 2G/3G rural cellular connections.</a:t>
            </a:r>
          </a:p>
        </p:txBody>
      </p:sp>
      <p:sp>
        <p:nvSpPr>
          <p:cNvPr id="8" name="Rounded Rectangle 7"/>
          <p:cNvSpPr/>
          <p:nvPr/>
        </p:nvSpPr>
        <p:spPr>
          <a:xfrm>
            <a:off x="62179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Empowering Smallholder Agronomy</a:t>
            </a:r>
          </a:p>
        </p:txBody>
      </p:sp>
      <p:sp>
        <p:nvSpPr>
          <p:cNvPr id="10" name="TextBox 9"/>
          <p:cNvSpPr txBox="1"/>
          <p:nvPr/>
        </p:nvSpPr>
        <p:spPr>
          <a:xfrm>
            <a:off x="6400800" y="1965960"/>
            <a:ext cx="4754880" cy="3840480"/>
          </a:xfrm>
          <a:prstGeom prst="rect">
            <a:avLst/>
          </a:prstGeom>
          <a:noFill/>
        </p:spPr>
        <p:txBody>
          <a:bodyPr wrap="square">
            <a:spAutoFit/>
          </a:bodyPr>
          <a:lstStyle/>
          <a:p>
            <a:pPr>
              <a:defRPr sz="1300">
                <a:solidFill>
                  <a:srgbClr val="222222"/>
                </a:solidFill>
              </a:defRPr>
            </a:pPr>
            <a:r>
              <a:t>• Over 85% of Indian farmers are small and marginal cultivating under 2 hectares.</a:t>
            </a:r>
            <a:br/>
            <a:r>
              <a:t>• Extension Officer Ratio exceeds 1:2000 in many districts, making physical visits infrequent.</a:t>
            </a:r>
            <a:br/>
            <a:r>
              <a:t>• Real-Time Market Intelligence: Eliminates middleman exploitation by providing direct APMC mandi rates.</a:t>
            </a:r>
            <a:br/>
            <a:r>
              <a:t>• Hyper-Local Retail Linkage: Connects diagnostic advice immediately with local licensed dealer stock.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Project Objectives &amp; Scope</a:t>
            </a:r>
          </a:p>
        </p:txBody>
      </p:sp>
      <p:sp>
        <p:nvSpPr>
          <p:cNvPr id="5" name="Rounded Rectangle 4"/>
          <p:cNvSpPr/>
          <p:nvPr/>
        </p:nvSpPr>
        <p:spPr>
          <a:xfrm>
            <a:off x="731520" y="1371600"/>
            <a:ext cx="1069848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10332720" cy="457200"/>
          </a:xfrm>
          <a:prstGeom prst="rect">
            <a:avLst/>
          </a:prstGeom>
          <a:noFill/>
        </p:spPr>
        <p:txBody>
          <a:bodyPr wrap="square">
            <a:spAutoFit/>
          </a:bodyPr>
          <a:lstStyle/>
          <a:p>
            <a:pPr>
              <a:defRPr sz="1400" b="1">
                <a:solidFill>
                  <a:srgbClr val="1B365D"/>
                </a:solidFill>
              </a:defRPr>
            </a:pPr>
            <a:r>
              <a:t>Core Deliverables of BhoomiMitra AI</a:t>
            </a:r>
          </a:p>
        </p:txBody>
      </p:sp>
      <p:sp>
        <p:nvSpPr>
          <p:cNvPr id="7" name="TextBox 6"/>
          <p:cNvSpPr txBox="1"/>
          <p:nvPr/>
        </p:nvSpPr>
        <p:spPr>
          <a:xfrm>
            <a:off x="914400" y="1965960"/>
            <a:ext cx="10332720" cy="4023360"/>
          </a:xfrm>
          <a:prstGeom prst="rect">
            <a:avLst/>
          </a:prstGeom>
          <a:noFill/>
        </p:spPr>
        <p:txBody>
          <a:bodyPr wrap="square">
            <a:spAutoFit/>
          </a:bodyPr>
          <a:lstStyle/>
          <a:p>
            <a:pPr>
              <a:defRPr sz="1250">
                <a:solidFill>
                  <a:srgbClr val="222222"/>
                </a:solidFill>
              </a:defRPr>
            </a:pPr>
            <a:r>
              <a:t>1. WhatsApp Webhook Pipeline: Implement secure Meta Cloud API integration with HMAC-SHA256 signature verification.</a:t>
            </a:r>
            <a:br/>
            <a:r>
              <a:t>2. Hallucination-Free RAG Engine: Ground Gemini Generative AI on ICAR and PJTSAU university package-of-practices.</a:t>
            </a:r>
            <a:br/>
            <a:r>
              <a:t>3. Multi-Turn Memory Profile: Maintain long-term farmer memory tracking farm GPS, district, and crop history.</a:t>
            </a:r>
            <a:br/>
            <a:r>
              <a:t>4. Domain Enrichment &amp; Digital Commerce:</a:t>
            </a:r>
            <a:br/>
            <a:r>
              <a:t>   • Agri Shops: Haversine distance ranking and live stock level classification (In Stock / Low Stock / Out of Stock).</a:t>
            </a:r>
            <a:br/>
            <a:r>
              <a:t>   • Market Prices: Agmarknet live mandi rates with commodity normalization and local database fallbacks.</a:t>
            </a:r>
            <a:br/>
            <a:r>
              <a:t>   • Weather Forecast: 5-day geolocation rain warnings and agricultural spray advisories.</a:t>
            </a:r>
            <a:br/>
            <a:r>
              <a:t>   • Government Schemes: Matching central/state subsidies (PM-KISAN, Rythu Bandhu) with direct application links.</a:t>
            </a:r>
            <a:br/>
            <a:r>
              <a:t>   • Expert Escalation: Agricultural Extension Officer (AEO) ticketing with Kisan Call Centre (1800-180-1551) fallback.</a:t>
            </a:r>
            <a:br/>
            <a:r>
              <a:t>5. High Operational Resilience: Multi-tier Gemini model failover (3.5 Lite -&gt; 3.5 Flash -&gt; Flash Latest) &amp; 100% automated test coverage (289 tests).    • Digital Payments &amp; Web UI: Integrated Razorpay checkout (HMAC-SHA256 verification) and responsive Web Management Dashboard.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Comparative Analysis: Existing vs Proposed System</a:t>
            </a:r>
          </a:p>
        </p:txBody>
      </p:sp>
      <p:sp>
        <p:nvSpPr>
          <p:cNvPr id="5" name="Rounded Rectangle 4"/>
          <p:cNvSpPr/>
          <p:nvPr/>
        </p:nvSpPr>
        <p:spPr>
          <a:xfrm>
            <a:off x="7315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C0392B"/>
                </a:solidFill>
              </a:defRPr>
            </a:pPr>
            <a:r>
              <a:t>Existing Agricultural Systems</a:t>
            </a:r>
          </a:p>
        </p:txBody>
      </p:sp>
      <p:sp>
        <p:nvSpPr>
          <p:cNvPr id="7" name="TextBox 6"/>
          <p:cNvSpPr txBox="1"/>
          <p:nvPr/>
        </p:nvSpPr>
        <p:spPr>
          <a:xfrm>
            <a:off x="914400" y="1965960"/>
            <a:ext cx="4754880" cy="3840480"/>
          </a:xfrm>
          <a:prstGeom prst="rect">
            <a:avLst/>
          </a:prstGeom>
          <a:noFill/>
        </p:spPr>
        <p:txBody>
          <a:bodyPr wrap="square">
            <a:spAutoFit/>
          </a:bodyPr>
          <a:lstStyle/>
          <a:p>
            <a:pPr>
              <a:defRPr sz="1200">
                <a:solidFill>
                  <a:srgbClr val="222222"/>
                </a:solidFill>
              </a:defRPr>
            </a:pPr>
            <a:r>
              <a:t>• Disconnected Standalone Apps (Kisan Suvidha, etc.)</a:t>
            </a:r>
            <a:br/>
            <a:r>
              <a:t>• High cognitive load; requires manual registration and navigation.</a:t>
            </a:r>
            <a:br/>
            <a:r>
              <a:t>• English-first interfaces with poor vernacular natural language understanding.</a:t>
            </a:r>
            <a:br/>
            <a:r>
              <a:t>• Generic LLMs hallucinate unapproved chemical dosages.</a:t>
            </a:r>
            <a:br/>
            <a:r>
              <a:t>• No direct correlation between diagnosis, nearby shop stock, and mandi prices.</a:t>
            </a:r>
            <a:br/>
            <a:r>
              <a:t>• Call centres operate only during limited business hours with long queue wait times.</a:t>
            </a:r>
          </a:p>
        </p:txBody>
      </p:sp>
      <p:sp>
        <p:nvSpPr>
          <p:cNvPr id="8" name="Rounded Rectangle 7"/>
          <p:cNvSpPr/>
          <p:nvPr/>
        </p:nvSpPr>
        <p:spPr>
          <a:xfrm>
            <a:off x="62179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BhoomiMitra AI (Proposed System)</a:t>
            </a:r>
          </a:p>
        </p:txBody>
      </p:sp>
      <p:sp>
        <p:nvSpPr>
          <p:cNvPr id="10" name="TextBox 9"/>
          <p:cNvSpPr txBox="1"/>
          <p:nvPr/>
        </p:nvSpPr>
        <p:spPr>
          <a:xfrm>
            <a:off x="6400800" y="1965960"/>
            <a:ext cx="4754880" cy="3840480"/>
          </a:xfrm>
          <a:prstGeom prst="rect">
            <a:avLst/>
          </a:prstGeom>
          <a:noFill/>
        </p:spPr>
        <p:txBody>
          <a:bodyPr wrap="square">
            <a:spAutoFit/>
          </a:bodyPr>
          <a:lstStyle/>
          <a:p>
            <a:pPr>
              <a:defRPr sz="1200">
                <a:solidFill>
                  <a:srgbClr val="222222"/>
                </a:solidFill>
              </a:defRPr>
            </a:pPr>
            <a:r>
              <a:t>• Native WhatsApp Conversational Interface (Zero App Install).</a:t>
            </a:r>
            <a:br/>
            <a:r>
              <a:t>• Zero form-filling; understands natural conversational queries.</a:t>
            </a:r>
            <a:br/>
            <a:r>
              <a:t>• Fluent bilingual processing in Telugu (తెలుగు) and English.</a:t>
            </a:r>
            <a:br/>
            <a:r>
              <a:t>• Strict RAG grounding on ICAR/PJTSAU university standards.</a:t>
            </a:r>
            <a:br/>
            <a:r>
              <a:t>• Unified multi-domain enrichment in a single dialog turn (Advisory + Shop Stock + Mandi Rates + Rain Alerts).</a:t>
            </a:r>
            <a:br/>
            <a:r>
              <a:t>• 24/7 autonomous instant AI response with official AEO ticketing and Kisan Call Centre fallback.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BhoomiMitra AI System Architecture</a:t>
            </a:r>
          </a:p>
        </p:txBody>
      </p:sp>
      <p:sp>
        <p:nvSpPr>
          <p:cNvPr id="5" name="Rounded Rectangle 4"/>
          <p:cNvSpPr/>
          <p:nvPr/>
        </p:nvSpPr>
        <p:spPr>
          <a:xfrm>
            <a:off x="731520" y="1371600"/>
            <a:ext cx="32918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2926080" cy="457200"/>
          </a:xfrm>
          <a:prstGeom prst="rect">
            <a:avLst/>
          </a:prstGeom>
          <a:noFill/>
        </p:spPr>
        <p:txBody>
          <a:bodyPr wrap="square">
            <a:spAutoFit/>
          </a:bodyPr>
          <a:lstStyle/>
          <a:p>
            <a:pPr>
              <a:defRPr sz="1400" b="1">
                <a:solidFill>
                  <a:srgbClr val="1B365D"/>
                </a:solidFill>
              </a:defRPr>
            </a:pPr>
            <a:r>
              <a:t>1. Ingestion Gateway</a:t>
            </a:r>
          </a:p>
        </p:txBody>
      </p:sp>
      <p:sp>
        <p:nvSpPr>
          <p:cNvPr id="7" name="TextBox 6"/>
          <p:cNvSpPr txBox="1"/>
          <p:nvPr/>
        </p:nvSpPr>
        <p:spPr>
          <a:xfrm>
            <a:off x="822960" y="1965960"/>
            <a:ext cx="3108960" cy="3840480"/>
          </a:xfrm>
          <a:prstGeom prst="rect">
            <a:avLst/>
          </a:prstGeom>
          <a:noFill/>
        </p:spPr>
        <p:txBody>
          <a:bodyPr wrap="square">
            <a:spAutoFit/>
          </a:bodyPr>
          <a:lstStyle/>
          <a:p>
            <a:pPr>
              <a:defRPr sz="1200">
                <a:solidFill>
                  <a:srgbClr val="222222"/>
                </a:solidFill>
              </a:defRPr>
            </a:pPr>
            <a:r>
              <a:t>• Meta WhatsApp Cloud API</a:t>
            </a:r>
            <a:br/>
            <a:r>
              <a:t>• GET/POST /webhook/whatsapp</a:t>
            </a:r>
            <a:br/>
            <a:r>
              <a:t>• HMAC-SHA256 verification via WHATSAPP_APP_SECRET</a:t>
            </a:r>
            <a:br/>
            <a:r>
              <a:t>• Immediate HTTP 200 return</a:t>
            </a:r>
            <a:br/>
            <a:r>
              <a:t>• Async BackgroundTask worker dispatch</a:t>
            </a:r>
          </a:p>
        </p:txBody>
      </p:sp>
      <p:sp>
        <p:nvSpPr>
          <p:cNvPr id="8" name="Rounded Rectangle 7"/>
          <p:cNvSpPr/>
          <p:nvPr/>
        </p:nvSpPr>
        <p:spPr>
          <a:xfrm>
            <a:off x="4389120" y="1371600"/>
            <a:ext cx="32918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508760"/>
            <a:ext cx="2926080" cy="457200"/>
          </a:xfrm>
          <a:prstGeom prst="rect">
            <a:avLst/>
          </a:prstGeom>
          <a:noFill/>
        </p:spPr>
        <p:txBody>
          <a:bodyPr wrap="square">
            <a:spAutoFit/>
          </a:bodyPr>
          <a:lstStyle/>
          <a:p>
            <a:pPr>
              <a:defRPr sz="1400" b="1">
                <a:solidFill>
                  <a:srgbClr val="2E6B38"/>
                </a:solidFill>
              </a:defRPr>
            </a:pPr>
            <a:r>
              <a:t>2. Core AI &amp; Memory</a:t>
            </a:r>
          </a:p>
        </p:txBody>
      </p:sp>
      <p:sp>
        <p:nvSpPr>
          <p:cNvPr id="10" name="TextBox 9"/>
          <p:cNvSpPr txBox="1"/>
          <p:nvPr/>
        </p:nvSpPr>
        <p:spPr>
          <a:xfrm>
            <a:off x="4480560" y="1965960"/>
            <a:ext cx="3108960" cy="3840480"/>
          </a:xfrm>
          <a:prstGeom prst="rect">
            <a:avLst/>
          </a:prstGeom>
          <a:noFill/>
        </p:spPr>
        <p:txBody>
          <a:bodyPr wrap="square">
            <a:spAutoFit/>
          </a:bodyPr>
          <a:lstStyle/>
          <a:p>
            <a:pPr>
              <a:defRPr sz="1200">
                <a:solidFill>
                  <a:srgbClr val="222222"/>
                </a:solidFill>
              </a:defRPr>
            </a:pPr>
            <a:r>
              <a:t>• AIService Orchestrator</a:t>
            </a:r>
            <a:br/>
            <a:r>
              <a:t>• Farmer Profile &amp; Memory Loading</a:t>
            </a:r>
            <a:br/>
            <a:r>
              <a:t>• Multi-Turn Conversation State</a:t>
            </a:r>
            <a:br/>
            <a:r>
              <a:t>• Vector RAG Knowledge Retrieval</a:t>
            </a:r>
            <a:br/>
            <a:r>
              <a:t>• Gemini 3.5 Flash-Lite LLM</a:t>
            </a:r>
            <a:br/>
            <a:r>
              <a:t>• Multimodal Vision for Leaf Disease</a:t>
            </a:r>
          </a:p>
        </p:txBody>
      </p:sp>
      <p:sp>
        <p:nvSpPr>
          <p:cNvPr id="11" name="Rounded Rectangle 10"/>
          <p:cNvSpPr/>
          <p:nvPr/>
        </p:nvSpPr>
        <p:spPr>
          <a:xfrm>
            <a:off x="8046720" y="1371600"/>
            <a:ext cx="32918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508760"/>
            <a:ext cx="2926080" cy="457200"/>
          </a:xfrm>
          <a:prstGeom prst="rect">
            <a:avLst/>
          </a:prstGeom>
          <a:noFill/>
        </p:spPr>
        <p:txBody>
          <a:bodyPr wrap="square">
            <a:spAutoFit/>
          </a:bodyPr>
          <a:lstStyle/>
          <a:p>
            <a:pPr>
              <a:defRPr sz="1400" b="1">
                <a:solidFill>
                  <a:srgbClr val="D99B00"/>
                </a:solidFill>
              </a:defRPr>
            </a:pPr>
            <a:r>
              <a:t>3. Domain Enrichments</a:t>
            </a:r>
          </a:p>
        </p:txBody>
      </p:sp>
      <p:sp>
        <p:nvSpPr>
          <p:cNvPr id="13" name="TextBox 12"/>
          <p:cNvSpPr txBox="1"/>
          <p:nvPr/>
        </p:nvSpPr>
        <p:spPr>
          <a:xfrm>
            <a:off x="8138160" y="1965960"/>
            <a:ext cx="3108960" cy="3840480"/>
          </a:xfrm>
          <a:prstGeom prst="rect">
            <a:avLst/>
          </a:prstGeom>
          <a:noFill/>
        </p:spPr>
        <p:txBody>
          <a:bodyPr wrap="square">
            <a:spAutoFit/>
          </a:bodyPr>
          <a:lstStyle/>
          <a:p>
            <a:pPr>
              <a:defRPr sz="1200">
                <a:solidFill>
                  <a:srgbClr val="222222"/>
                </a:solidFill>
              </a:defRPr>
            </a:pPr>
            <a:r>
              <a:t>• 1. Shops &amp; Input Availability</a:t>
            </a:r>
            <a:br/>
            <a:r>
              <a:t>• 2. Mandi Market Prices</a:t>
            </a:r>
            <a:br/>
            <a:r>
              <a:t>• 3. 5-Day Weather Intelligence</a:t>
            </a:r>
            <a:br/>
            <a:r>
              <a:t>• 4. Government Welfare Schemes</a:t>
            </a:r>
            <a:br/>
            <a:r>
              <a:t>• 5. Expert Escalation Ticketing</a:t>
            </a:r>
            <a:br/>
            <a:r>
              <a:t>• Isolated try-except per stage</a:t>
            </a:r>
            <a:br/>
            <a:r>
              <a:t>• Outbound Meta Graph API Sender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Production Technology Stack</a:t>
            </a:r>
          </a:p>
        </p:txBody>
      </p:sp>
      <p:sp>
        <p:nvSpPr>
          <p:cNvPr id="5" name="Rounded Rectangle 4"/>
          <p:cNvSpPr/>
          <p:nvPr/>
        </p:nvSpPr>
        <p:spPr>
          <a:xfrm>
            <a:off x="731520" y="1371600"/>
            <a:ext cx="5120640" cy="228600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1B365D"/>
                </a:solidFill>
              </a:defRPr>
            </a:pPr>
            <a:r>
              <a:t>Backend &amp; Asynchronous Framework</a:t>
            </a:r>
          </a:p>
        </p:txBody>
      </p:sp>
      <p:sp>
        <p:nvSpPr>
          <p:cNvPr id="7" name="TextBox 6"/>
          <p:cNvSpPr txBox="1"/>
          <p:nvPr/>
        </p:nvSpPr>
        <p:spPr>
          <a:xfrm>
            <a:off x="914400" y="1965960"/>
            <a:ext cx="4754880" cy="1554480"/>
          </a:xfrm>
          <a:prstGeom prst="rect">
            <a:avLst/>
          </a:prstGeom>
          <a:noFill/>
        </p:spPr>
        <p:txBody>
          <a:bodyPr wrap="square">
            <a:spAutoFit/>
          </a:bodyPr>
          <a:lstStyle/>
          <a:p>
            <a:pPr>
              <a:defRPr sz="1100">
                <a:solidFill>
                  <a:srgbClr val="222222"/>
                </a:solidFill>
              </a:defRPr>
            </a:pPr>
            <a:r>
              <a:t>• Python 3.9 / 3.12 compatible runtime</a:t>
            </a:r>
            <a:br/>
            <a:r>
              <a:t>• FastAPI 0.115.0: High-performance async web framework</a:t>
            </a:r>
            <a:br/>
            <a:r>
              <a:t>• Uvicorn 0.30.0 &amp; Gunicorn 23.0.0: ASGI server with multi-worker process management</a:t>
            </a:r>
            <a:br/>
            <a:r>
              <a:t>• HTTPX 0.27.0: Non-blocking async client for external APIs</a:t>
            </a:r>
          </a:p>
        </p:txBody>
      </p:sp>
      <p:sp>
        <p:nvSpPr>
          <p:cNvPr id="8" name="Rounded Rectangle 7"/>
          <p:cNvSpPr/>
          <p:nvPr/>
        </p:nvSpPr>
        <p:spPr>
          <a:xfrm>
            <a:off x="6217920" y="1371600"/>
            <a:ext cx="5120640" cy="228600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Generative AI &amp; Speech Services</a:t>
            </a:r>
          </a:p>
        </p:txBody>
      </p:sp>
      <p:sp>
        <p:nvSpPr>
          <p:cNvPr id="10" name="TextBox 9"/>
          <p:cNvSpPr txBox="1"/>
          <p:nvPr/>
        </p:nvSpPr>
        <p:spPr>
          <a:xfrm>
            <a:off x="6400800" y="1965960"/>
            <a:ext cx="4754880" cy="1554480"/>
          </a:xfrm>
          <a:prstGeom prst="rect">
            <a:avLst/>
          </a:prstGeom>
          <a:noFill/>
        </p:spPr>
        <p:txBody>
          <a:bodyPr wrap="square">
            <a:spAutoFit/>
          </a:bodyPr>
          <a:lstStyle/>
          <a:p>
            <a:pPr>
              <a:defRPr sz="1100">
                <a:solidFill>
                  <a:srgbClr val="222222"/>
                </a:solidFill>
              </a:defRPr>
            </a:pPr>
            <a:r>
              <a:t>• Google Generative AI SDK 0.8.0: Gemini 3.5 Flash-Lite / 3.5 Flash / Flash-Latest</a:t>
            </a:r>
            <a:br/>
            <a:r>
              <a:t>• Gemini Vision: Leaf symptom pathology classification</a:t>
            </a:r>
            <a:br/>
            <a:r>
              <a:t>• Google Cloud Speech-to-Text 2.27.0: Telugu (te-IN) voice transcription</a:t>
            </a:r>
            <a:br/>
            <a:r>
              <a:t>• RAG Knowledge Engine: ICAR &amp; PJTSAU package-of-practices</a:t>
            </a:r>
          </a:p>
        </p:txBody>
      </p:sp>
      <p:sp>
        <p:nvSpPr>
          <p:cNvPr id="11" name="Rounded Rectangle 10"/>
          <p:cNvSpPr/>
          <p:nvPr/>
        </p:nvSpPr>
        <p:spPr>
          <a:xfrm>
            <a:off x="731520" y="3931920"/>
            <a:ext cx="5120640" cy="228600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80" cy="457200"/>
          </a:xfrm>
          <a:prstGeom prst="rect">
            <a:avLst/>
          </a:prstGeom>
          <a:noFill/>
        </p:spPr>
        <p:txBody>
          <a:bodyPr wrap="square">
            <a:spAutoFit/>
          </a:bodyPr>
          <a:lstStyle/>
          <a:p>
            <a:pPr>
              <a:defRPr sz="1400" b="1">
                <a:solidFill>
                  <a:srgbClr val="2E6B38"/>
                </a:solidFill>
              </a:defRPr>
            </a:pPr>
            <a:r>
              <a:t>Database &amp; ORM Layer</a:t>
            </a:r>
          </a:p>
        </p:txBody>
      </p:sp>
      <p:sp>
        <p:nvSpPr>
          <p:cNvPr id="13" name="TextBox 12"/>
          <p:cNvSpPr txBox="1"/>
          <p:nvPr/>
        </p:nvSpPr>
        <p:spPr>
          <a:xfrm>
            <a:off x="914400" y="4526280"/>
            <a:ext cx="4754880" cy="1554480"/>
          </a:xfrm>
          <a:prstGeom prst="rect">
            <a:avLst/>
          </a:prstGeom>
          <a:noFill/>
        </p:spPr>
        <p:txBody>
          <a:bodyPr wrap="square">
            <a:spAutoFit/>
          </a:bodyPr>
          <a:lstStyle/>
          <a:p>
            <a:pPr>
              <a:defRPr sz="1100">
                <a:solidFill>
                  <a:srgbClr val="222222"/>
                </a:solidFill>
              </a:defRPr>
            </a:pPr>
            <a:r>
              <a:t>• PostgreSQL 15+ / Redis (Async Caching) / Neon Cloud PostgreSQL</a:t>
            </a:r>
            <a:br/>
            <a:r>
              <a:t>• SQLAlchemy 2.0.35: Async ORM with parameterized query building</a:t>
            </a:r>
            <a:br/>
            <a:r>
              <a:t>• asyncpg 0.29.0: High-concurrency async database driver</a:t>
            </a:r>
            <a:br/>
            <a:r>
              <a:t>• Alembic 1.13.0: Database schema version control (Head: 010_add_market_prices)</a:t>
            </a:r>
          </a:p>
        </p:txBody>
      </p:sp>
      <p:sp>
        <p:nvSpPr>
          <p:cNvPr id="14" name="Rounded Rectangle 13"/>
          <p:cNvSpPr/>
          <p:nvPr/>
        </p:nvSpPr>
        <p:spPr>
          <a:xfrm>
            <a:off x="6217920" y="3931920"/>
            <a:ext cx="5120640" cy="228600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754880" cy="457200"/>
          </a:xfrm>
          <a:prstGeom prst="rect">
            <a:avLst/>
          </a:prstGeom>
          <a:noFill/>
        </p:spPr>
        <p:txBody>
          <a:bodyPr wrap="square">
            <a:spAutoFit/>
          </a:bodyPr>
          <a:lstStyle/>
          <a:p>
            <a:pPr>
              <a:defRPr sz="1400" b="1">
                <a:solidFill>
                  <a:srgbClr val="1B365D"/>
                </a:solidFill>
              </a:defRPr>
            </a:pPr>
            <a:r>
              <a:t>External Agricultural APIs &amp; Deployment</a:t>
            </a:r>
          </a:p>
        </p:txBody>
      </p:sp>
      <p:sp>
        <p:nvSpPr>
          <p:cNvPr id="16" name="TextBox 15"/>
          <p:cNvSpPr txBox="1"/>
          <p:nvPr/>
        </p:nvSpPr>
        <p:spPr>
          <a:xfrm>
            <a:off x="6400800" y="4526280"/>
            <a:ext cx="4754880" cy="1554480"/>
          </a:xfrm>
          <a:prstGeom prst="rect">
            <a:avLst/>
          </a:prstGeom>
          <a:noFill/>
        </p:spPr>
        <p:txBody>
          <a:bodyPr wrap="square">
            <a:spAutoFit/>
          </a:bodyPr>
          <a:lstStyle/>
          <a:p>
            <a:pPr>
              <a:defRPr sz="1100">
                <a:solidFill>
                  <a:srgbClr val="222222"/>
                </a:solidFill>
              </a:defRPr>
            </a:pPr>
            <a:r>
              <a:t>• Meta WhatsApp Cloud API: Direct WhatsApp Business integration</a:t>
            </a:r>
            <a:br/>
            <a:r>
              <a:t>• Agmarknet / data.gov.in: Daily APMC mandi commodity prices</a:t>
            </a:r>
            <a:br/>
            <a:r>
              <a:t>• OpenWeatherMap API: 5-day meteorological &amp; precipitation forecast</a:t>
            </a:r>
            <a:br/>
            <a:r>
              <a:t>• Deployment: Render deployment-ready (render.yaml specification)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Database Architecture: 19 Core Relational Entities</a:t>
            </a:r>
          </a:p>
        </p:txBody>
      </p:sp>
      <p:sp>
        <p:nvSpPr>
          <p:cNvPr id="5" name="Rounded Rectangle 4"/>
          <p:cNvSpPr/>
          <p:nvPr/>
        </p:nvSpPr>
        <p:spPr>
          <a:xfrm>
            <a:off x="731520" y="1371600"/>
            <a:ext cx="32918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2926080" cy="457200"/>
          </a:xfrm>
          <a:prstGeom prst="rect">
            <a:avLst/>
          </a:prstGeom>
          <a:noFill/>
        </p:spPr>
        <p:txBody>
          <a:bodyPr wrap="square">
            <a:spAutoFit/>
          </a:bodyPr>
          <a:lstStyle/>
          <a:p>
            <a:pPr>
              <a:defRPr sz="1400" b="1">
                <a:solidFill>
                  <a:srgbClr val="1B365D"/>
                </a:solidFill>
              </a:defRPr>
            </a:pPr>
            <a:r>
              <a:t>Farmer &amp; Land Profile</a:t>
            </a:r>
          </a:p>
        </p:txBody>
      </p:sp>
      <p:sp>
        <p:nvSpPr>
          <p:cNvPr id="7" name="TextBox 6"/>
          <p:cNvSpPr txBox="1"/>
          <p:nvPr/>
        </p:nvSpPr>
        <p:spPr>
          <a:xfrm>
            <a:off x="822960" y="1965960"/>
            <a:ext cx="3108960" cy="3840480"/>
          </a:xfrm>
          <a:prstGeom prst="rect">
            <a:avLst/>
          </a:prstGeom>
          <a:noFill/>
        </p:spPr>
        <p:txBody>
          <a:bodyPr wrap="square">
            <a:spAutoFit/>
          </a:bodyPr>
          <a:lstStyle/>
          <a:p>
            <a:pPr>
              <a:defRPr sz="1150">
                <a:solidFill>
                  <a:srgbClr val="222222"/>
                </a:solidFill>
              </a:defRPr>
            </a:pPr>
            <a:r>
              <a:t>• farmers: Root user registry (phone, preferred_language)</a:t>
            </a:r>
            <a:br/>
            <a:r>
              <a:t>• farmer_profiles: District, state, land acreage, current crop</a:t>
            </a:r>
            <a:br/>
            <a:r>
              <a:t>• farmer_memory: GPS coordinates, crop history, expert consultation history in JSON</a:t>
            </a:r>
            <a:br/>
            <a:r>
              <a:t>• farms &amp; crops: Land plots &amp; seasonal crop tracking</a:t>
            </a:r>
            <a:br/>
            <a:r>
              <a:t>• crop_health: Diagnosis history, leaf image URLs, treatment recommendations</a:t>
            </a:r>
          </a:p>
        </p:txBody>
      </p:sp>
      <p:sp>
        <p:nvSpPr>
          <p:cNvPr id="8" name="Rounded Rectangle 7"/>
          <p:cNvSpPr/>
          <p:nvPr/>
        </p:nvSpPr>
        <p:spPr>
          <a:xfrm>
            <a:off x="4389120" y="1371600"/>
            <a:ext cx="32918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508760"/>
            <a:ext cx="2926080" cy="457200"/>
          </a:xfrm>
          <a:prstGeom prst="rect">
            <a:avLst/>
          </a:prstGeom>
          <a:noFill/>
        </p:spPr>
        <p:txBody>
          <a:bodyPr wrap="square">
            <a:spAutoFit/>
          </a:bodyPr>
          <a:lstStyle/>
          <a:p>
            <a:pPr>
              <a:defRPr sz="1400" b="1">
                <a:solidFill>
                  <a:srgbClr val="2E6B38"/>
                </a:solidFill>
              </a:defRPr>
            </a:pPr>
            <a:r>
              <a:t>Commerce &amp; Inventory</a:t>
            </a:r>
          </a:p>
        </p:txBody>
      </p:sp>
      <p:sp>
        <p:nvSpPr>
          <p:cNvPr id="10" name="TextBox 9"/>
          <p:cNvSpPr txBox="1"/>
          <p:nvPr/>
        </p:nvSpPr>
        <p:spPr>
          <a:xfrm>
            <a:off x="4480560" y="1965960"/>
            <a:ext cx="3108960" cy="3840480"/>
          </a:xfrm>
          <a:prstGeom prst="rect">
            <a:avLst/>
          </a:prstGeom>
          <a:noFill/>
        </p:spPr>
        <p:txBody>
          <a:bodyPr wrap="square">
            <a:spAutoFit/>
          </a:bodyPr>
          <a:lstStyle/>
          <a:p>
            <a:pPr>
              <a:defRPr sz="1150">
                <a:solidFill>
                  <a:srgbClr val="222222"/>
                </a:solidFill>
              </a:defRPr>
            </a:pPr>
            <a:r>
              <a:t>• shops: Registered agri-input retailers with geographic coordinates (lat/lon), opening hours</a:t>
            </a:r>
            <a:br/>
            <a:r>
              <a:t>• inventory: Real-time stock per shop with category, brand, unit price, stock quantity, minimum stock level</a:t>
            </a:r>
            <a:br/>
            <a:r>
              <a:t>• order_requests: Input reservation cart &amp; order status tracking</a:t>
            </a:r>
            <a:br/>
            <a:r>
              <a:t>• Seed Data: Bootstraps 4 regional baseline dealers with authentic MRP pricing</a:t>
            </a:r>
          </a:p>
        </p:txBody>
      </p:sp>
      <p:sp>
        <p:nvSpPr>
          <p:cNvPr id="11" name="Rounded Rectangle 10"/>
          <p:cNvSpPr/>
          <p:nvPr/>
        </p:nvSpPr>
        <p:spPr>
          <a:xfrm>
            <a:off x="8046720" y="1371600"/>
            <a:ext cx="32918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508760"/>
            <a:ext cx="2926080" cy="457200"/>
          </a:xfrm>
          <a:prstGeom prst="rect">
            <a:avLst/>
          </a:prstGeom>
          <a:noFill/>
        </p:spPr>
        <p:txBody>
          <a:bodyPr wrap="square">
            <a:spAutoFit/>
          </a:bodyPr>
          <a:lstStyle/>
          <a:p>
            <a:pPr>
              <a:defRPr sz="1400" b="1">
                <a:solidFill>
                  <a:srgbClr val="D99B00"/>
                </a:solidFill>
              </a:defRPr>
            </a:pPr>
            <a:r>
              <a:t>Domain Intelligence</a:t>
            </a:r>
          </a:p>
        </p:txBody>
      </p:sp>
      <p:sp>
        <p:nvSpPr>
          <p:cNvPr id="13" name="TextBox 12"/>
          <p:cNvSpPr txBox="1"/>
          <p:nvPr/>
        </p:nvSpPr>
        <p:spPr>
          <a:xfrm>
            <a:off x="8138160" y="1965960"/>
            <a:ext cx="3108960" cy="3840480"/>
          </a:xfrm>
          <a:prstGeom prst="rect">
            <a:avLst/>
          </a:prstGeom>
          <a:noFill/>
        </p:spPr>
        <p:txBody>
          <a:bodyPr wrap="square">
            <a:spAutoFit/>
          </a:bodyPr>
          <a:lstStyle/>
          <a:p>
            <a:pPr>
              <a:defRPr sz="1150">
                <a:solidFill>
                  <a:srgbClr val="222222"/>
                </a:solidFill>
              </a:defRPr>
            </a:pPr>
            <a:r>
              <a:t>• market_prices: Daily APMC mandi commodity records (min/max/modal price per quintal)</a:t>
            </a:r>
            <a:br/>
            <a:r>
              <a:t>• government_schemes: Welfare schemes (PM-KISAN, Rythu Bandhu), eligibility, portal URLs</a:t>
            </a:r>
            <a:br/>
            <a:r>
              <a:t>• experts: Registered Agricultural Extension Officers &amp; specialists</a:t>
            </a:r>
            <a:br/>
            <a:r>
              <a:t>• conversations: Multi-turn chat turn persistence for context tracking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Grounded AI Advisory via Retrieval-Augmented Generation</a:t>
            </a:r>
          </a:p>
        </p:txBody>
      </p:sp>
      <p:sp>
        <p:nvSpPr>
          <p:cNvPr id="5" name="Rounded Rectangle 4"/>
          <p:cNvSpPr/>
          <p:nvPr/>
        </p:nvSpPr>
        <p:spPr>
          <a:xfrm>
            <a:off x="7315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1B365D"/>
                </a:solidFill>
              </a:defRPr>
            </a:pPr>
            <a:r>
              <a:t>How RAG Prevents Hallucinations</a:t>
            </a:r>
          </a:p>
        </p:txBody>
      </p:sp>
      <p:sp>
        <p:nvSpPr>
          <p:cNvPr id="7" name="TextBox 6"/>
          <p:cNvSpPr txBox="1"/>
          <p:nvPr/>
        </p:nvSpPr>
        <p:spPr>
          <a:xfrm>
            <a:off x="914400" y="1965960"/>
            <a:ext cx="4754880" cy="3840480"/>
          </a:xfrm>
          <a:prstGeom prst="rect">
            <a:avLst/>
          </a:prstGeom>
          <a:noFill/>
        </p:spPr>
        <p:txBody>
          <a:bodyPr wrap="square">
            <a:spAutoFit/>
          </a:bodyPr>
          <a:lstStyle/>
          <a:p>
            <a:pPr>
              <a:defRPr sz="1200">
                <a:solidFill>
                  <a:srgbClr val="222222"/>
                </a:solidFill>
              </a:defRPr>
            </a:pPr>
            <a:r>
              <a:t>• Problem with Generic LLMs: May hallucinate lethal chemical concentrations or unapproved pesticides.</a:t>
            </a:r>
            <a:br/>
            <a:r>
              <a:t>• Grounded Knowledge Retrieval: Semantic top-k search over verified ICAR &amp; PJTSAU package-of-practices guides.</a:t>
            </a:r>
            <a:br/>
            <a:r>
              <a:t>• Multi-Turn Query Enrichment: If a farmer sends a short follow-up (e.g., 'How much dosage per acre?'), the system prepends recent turns to build a fully qualified search query.</a:t>
            </a:r>
            <a:br/>
            <a:r>
              <a:t>• Injected System Prompt: Injects grounding chunks under 'GROUND TRUTH' banner to strictly guide Gemini generation.</a:t>
            </a:r>
          </a:p>
        </p:txBody>
      </p:sp>
      <p:sp>
        <p:nvSpPr>
          <p:cNvPr id="8" name="Rounded Rectangle 7"/>
          <p:cNvSpPr/>
          <p:nvPr/>
        </p:nvSpPr>
        <p:spPr>
          <a:xfrm>
            <a:off x="62179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Multimodal Leaf Pathology Diagnosis</a:t>
            </a:r>
          </a:p>
        </p:txBody>
      </p:sp>
      <p:sp>
        <p:nvSpPr>
          <p:cNvPr id="10" name="TextBox 9"/>
          <p:cNvSpPr txBox="1"/>
          <p:nvPr/>
        </p:nvSpPr>
        <p:spPr>
          <a:xfrm>
            <a:off x="6400800" y="1965960"/>
            <a:ext cx="4754880" cy="3840480"/>
          </a:xfrm>
          <a:prstGeom prst="rect">
            <a:avLst/>
          </a:prstGeom>
          <a:noFill/>
        </p:spPr>
        <p:txBody>
          <a:bodyPr wrap="square">
            <a:spAutoFit/>
          </a:bodyPr>
          <a:lstStyle/>
          <a:p>
            <a:pPr>
              <a:defRPr sz="1200">
                <a:solidFill>
                  <a:srgbClr val="222222"/>
                </a:solidFill>
              </a:defRPr>
            </a:pPr>
            <a:r>
              <a:t>• Leaf Image Ingestion: Ingests crop leaf photographs uploaded by farmers via WhatsApp.</a:t>
            </a:r>
            <a:br/>
            <a:r>
              <a:t>• Gemini Vision Inference: Analyzes fungal, bacterial, and insect damage patterns.</a:t>
            </a:r>
            <a:br/>
            <a:r>
              <a:t>• Precise Treatment Formatting: Returns exact active ingredient, trade name, and safe dilution ratio (e.g., 'Mancozeb 75% WP @ 2.5g/L water').</a:t>
            </a:r>
            <a:br/>
            <a:r>
              <a:t>• Immediate Retail Stock Coupling: Automatically attaches nearby licensed dealer stock for the recommended fungicide.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Domain Intelligence: Weather &amp; Mandi Market Prices</a:t>
            </a:r>
          </a:p>
        </p:txBody>
      </p:sp>
      <p:sp>
        <p:nvSpPr>
          <p:cNvPr id="5" name="Rounded Rectangle 4"/>
          <p:cNvSpPr/>
          <p:nvPr/>
        </p:nvSpPr>
        <p:spPr>
          <a:xfrm>
            <a:off x="7315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1B365D"/>
                </a:solidFill>
              </a:defRPr>
            </a:pPr>
            <a:r>
              <a:t>Geolocation Weather Forecast Engine</a:t>
            </a:r>
          </a:p>
        </p:txBody>
      </p:sp>
      <p:sp>
        <p:nvSpPr>
          <p:cNvPr id="7" name="TextBox 6"/>
          <p:cNvSpPr txBox="1"/>
          <p:nvPr/>
        </p:nvSpPr>
        <p:spPr>
          <a:xfrm>
            <a:off x="914400" y="1965960"/>
            <a:ext cx="4754880" cy="3840480"/>
          </a:xfrm>
          <a:prstGeom prst="rect">
            <a:avLst/>
          </a:prstGeom>
          <a:noFill/>
        </p:spPr>
        <p:txBody>
          <a:bodyPr wrap="square">
            <a:spAutoFit/>
          </a:bodyPr>
          <a:lstStyle/>
          <a:p>
            <a:pPr>
              <a:defRPr sz="1200">
                <a:solidFill>
                  <a:srgbClr val="222222"/>
                </a:solidFill>
              </a:defRPr>
            </a:pPr>
            <a:r>
              <a:t>• 4-Tier Location Resolution: GPS Coordinates -&gt; Farmer Profile District -&gt; Memory District -&gt; Regional Fallback.</a:t>
            </a:r>
            <a:br/>
            <a:r>
              <a:t>• 5-Day Meteorological Analysis: Queries OpenWeatherMap API with 1800s local cache TTL.</a:t>
            </a:r>
            <a:br/>
            <a:r>
              <a:t>• Agricultural Rain Advisories: Computes precipitation probability and generates actionable spray warnings (e.g., 'Do not spray pesticides today due to imminent rainfall').</a:t>
            </a:r>
            <a:br/>
            <a:r>
              <a:t>• Bilingual Formatting: Structured cards rendered in Telugu or English with seasonal simulation fallback if API key is omitted.</a:t>
            </a:r>
          </a:p>
        </p:txBody>
      </p:sp>
      <p:sp>
        <p:nvSpPr>
          <p:cNvPr id="8" name="Rounded Rectangle 7"/>
          <p:cNvSpPr/>
          <p:nvPr/>
        </p:nvSpPr>
        <p:spPr>
          <a:xfrm>
            <a:off x="62179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Agmarknet Live Mandi Market Prices</a:t>
            </a:r>
          </a:p>
        </p:txBody>
      </p:sp>
      <p:sp>
        <p:nvSpPr>
          <p:cNvPr id="10" name="TextBox 9"/>
          <p:cNvSpPr txBox="1"/>
          <p:nvPr/>
        </p:nvSpPr>
        <p:spPr>
          <a:xfrm>
            <a:off x="6400800" y="1965960"/>
            <a:ext cx="4754880" cy="3840480"/>
          </a:xfrm>
          <a:prstGeom prst="rect">
            <a:avLst/>
          </a:prstGeom>
          <a:noFill/>
        </p:spPr>
        <p:txBody>
          <a:bodyPr wrap="square">
            <a:spAutoFit/>
          </a:bodyPr>
          <a:lstStyle/>
          <a:p>
            <a:pPr>
              <a:defRPr sz="1200">
                <a:solidFill>
                  <a:srgbClr val="222222"/>
                </a:solidFill>
              </a:defRPr>
            </a:pPr>
            <a:r>
              <a:t>• Live Commodity Pricing: Direct integration with Agmarknet / data.gov.in API with 6-hour local cache TTL.</a:t>
            </a:r>
            <a:br/>
            <a:r>
              <a:t>• Commodity Normalization: Maps Telugu and English terms (e.g., 'పత్తి' -&gt; Cotton, 'వరి' -&gt; Paddy, 'మిర్చి' -&gt; Chilli).</a:t>
            </a:r>
            <a:br/>
            <a:r>
              <a:t>• Price Transparency: Returns Min Price, Max Price, and Modal Price per quintal with market yard location and reporting date.</a:t>
            </a:r>
            <a:br/>
            <a:r>
              <a:t>• Seeded Database Fallback: Gracefully falls back to localized historical benchmark rates if live government API is unreachable.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Domain Intelligence: Government Schemes &amp; Input Shops</a:t>
            </a:r>
          </a:p>
        </p:txBody>
      </p:sp>
      <p:sp>
        <p:nvSpPr>
          <p:cNvPr id="5" name="Rounded Rectangle 4"/>
          <p:cNvSpPr/>
          <p:nvPr/>
        </p:nvSpPr>
        <p:spPr>
          <a:xfrm>
            <a:off x="7315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1B365D"/>
                </a:solidFill>
              </a:defRPr>
            </a:pPr>
            <a:r>
              <a:t>Government Welfare Scheme Matching</a:t>
            </a:r>
          </a:p>
        </p:txBody>
      </p:sp>
      <p:sp>
        <p:nvSpPr>
          <p:cNvPr id="7" name="TextBox 6"/>
          <p:cNvSpPr txBox="1"/>
          <p:nvPr/>
        </p:nvSpPr>
        <p:spPr>
          <a:xfrm>
            <a:off x="914400" y="1965960"/>
            <a:ext cx="4754880" cy="3840480"/>
          </a:xfrm>
          <a:prstGeom prst="rect">
            <a:avLst/>
          </a:prstGeom>
          <a:noFill/>
        </p:spPr>
        <p:txBody>
          <a:bodyPr wrap="square">
            <a:spAutoFit/>
          </a:bodyPr>
          <a:lstStyle/>
          <a:p>
            <a:pPr>
              <a:defRPr sz="1200">
                <a:solidFill>
                  <a:srgbClr val="222222"/>
                </a:solidFill>
              </a:defRPr>
            </a:pPr>
            <a:r>
              <a:t>• Subsidy Intent Detection: Matches queries regarding PM-KISAN, Rythu Bandhu, PMFBY Crop Insurance, Solar Pump subsidies.</a:t>
            </a:r>
            <a:br/>
            <a:r>
              <a:t>• Crop &amp; State Filtering: Prioritizes schemes matching the farmer's current crop and regional state.</a:t>
            </a:r>
            <a:br/>
            <a:r>
              <a:t>• Actionable Benefit Cards: Displays annual financial grant, eligibility criteria, official application portal links, and toll-free helpline numbers in clean Telugu/English formatting.</a:t>
            </a:r>
          </a:p>
        </p:txBody>
      </p:sp>
      <p:sp>
        <p:nvSpPr>
          <p:cNvPr id="8" name="Rounded Rectangle 7"/>
          <p:cNvSpPr/>
          <p:nvPr/>
        </p:nvSpPr>
        <p:spPr>
          <a:xfrm>
            <a:off x="62179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Agri Shops &amp; Haversine Distance Search</a:t>
            </a:r>
          </a:p>
        </p:txBody>
      </p:sp>
      <p:sp>
        <p:nvSpPr>
          <p:cNvPr id="10" name="TextBox 9"/>
          <p:cNvSpPr txBox="1"/>
          <p:nvPr/>
        </p:nvSpPr>
        <p:spPr>
          <a:xfrm>
            <a:off x="6400800" y="1965960"/>
            <a:ext cx="4754880" cy="3840480"/>
          </a:xfrm>
          <a:prstGeom prst="rect">
            <a:avLst/>
          </a:prstGeom>
          <a:noFill/>
        </p:spPr>
        <p:txBody>
          <a:bodyPr wrap="square">
            <a:spAutoFit/>
          </a:bodyPr>
          <a:lstStyle/>
          <a:p>
            <a:pPr>
              <a:defRPr sz="1200">
                <a:solidFill>
                  <a:srgbClr val="222222"/>
                </a:solidFill>
              </a:defRPr>
            </a:pPr>
            <a:r>
              <a:t>• Great-Circle Distance: Calculates Haversine formula distance between farmer GPS and licensed input shops.</a:t>
            </a:r>
            <a:br/>
            <a:r>
              <a:t>• Closest-First Ranking: Sorts nearby dealers by physical distance in kilometres.</a:t>
            </a:r>
            <a:br/>
            <a:r>
              <a:t>• Real-Time Stock Status: Classifies inventory as 'In Stock', 'Low Stock', or 'Out of Stock' with verified government MRPs.</a:t>
            </a:r>
            <a:br/>
            <a:r>
              <a:t>• Baseline Seed Data: Pre-loaded with 4 regional demonstration shops across Telangana/AP (Guntur, Warangal, Khammam, Karimnagar).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Human-in-the-Loop: Expert Escalation &amp; Ticketing</a:t>
            </a:r>
          </a:p>
        </p:txBody>
      </p:sp>
      <p:sp>
        <p:nvSpPr>
          <p:cNvPr id="5" name="Rounded Rectangle 4"/>
          <p:cNvSpPr/>
          <p:nvPr/>
        </p:nvSpPr>
        <p:spPr>
          <a:xfrm>
            <a:off x="7315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1B365D"/>
                </a:solidFill>
              </a:defRPr>
            </a:pPr>
            <a:r>
              <a:t>Automated AEO Escalation Flow</a:t>
            </a:r>
          </a:p>
        </p:txBody>
      </p:sp>
      <p:sp>
        <p:nvSpPr>
          <p:cNvPr id="7" name="TextBox 6"/>
          <p:cNvSpPr txBox="1"/>
          <p:nvPr/>
        </p:nvSpPr>
        <p:spPr>
          <a:xfrm>
            <a:off x="914400" y="1965960"/>
            <a:ext cx="4754880" cy="3840480"/>
          </a:xfrm>
          <a:prstGeom prst="rect">
            <a:avLst/>
          </a:prstGeom>
          <a:noFill/>
        </p:spPr>
        <p:txBody>
          <a:bodyPr wrap="square">
            <a:spAutoFit/>
          </a:bodyPr>
          <a:lstStyle/>
          <a:p>
            <a:pPr>
              <a:defRPr sz="1200">
                <a:solidFill>
                  <a:srgbClr val="222222"/>
                </a:solidFill>
              </a:defRPr>
            </a:pPr>
            <a:r>
              <a:t>• Intent Recognition: Detects human escalation requests in English and Telugu (e.g., 'Connect me to an officer', 'వ్యవసాయ అధికారితో మాట్లాడాలి').</a:t>
            </a:r>
            <a:br/>
            <a:r>
              <a:t>• Ticket Generation: Generates unique structured tracking ID (`ESC-YYYYMMDD-XXXX`).</a:t>
            </a:r>
            <a:br/>
            <a:r>
              <a:t>• Intelligent Officer Assignment: Matches available Agricultural Extension Officer (AEO) or agronomist by specialty.</a:t>
            </a:r>
            <a:br/>
            <a:r>
              <a:t>• Duplicate Ticket Suppression: Prevents spam by checking if an active pending ticket was already logged for the farmer on the current date.</a:t>
            </a:r>
          </a:p>
        </p:txBody>
      </p:sp>
      <p:sp>
        <p:nvSpPr>
          <p:cNvPr id="8" name="Rounded Rectangle 7"/>
          <p:cNvSpPr/>
          <p:nvPr/>
        </p:nvSpPr>
        <p:spPr>
          <a:xfrm>
            <a:off x="62179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Zero-Migration Design &amp; KCC Fallback</a:t>
            </a:r>
          </a:p>
        </p:txBody>
      </p:sp>
      <p:sp>
        <p:nvSpPr>
          <p:cNvPr id="10" name="TextBox 9"/>
          <p:cNvSpPr txBox="1"/>
          <p:nvPr/>
        </p:nvSpPr>
        <p:spPr>
          <a:xfrm>
            <a:off x="6400800" y="1965960"/>
            <a:ext cx="4754880" cy="3840480"/>
          </a:xfrm>
          <a:prstGeom prst="rect">
            <a:avLst/>
          </a:prstGeom>
          <a:noFill/>
        </p:spPr>
        <p:txBody>
          <a:bodyPr wrap="square">
            <a:spAutoFit/>
          </a:bodyPr>
          <a:lstStyle/>
          <a:p>
            <a:pPr>
              <a:defRPr sz="1200">
                <a:solidFill>
                  <a:srgbClr val="222222"/>
                </a:solidFill>
              </a:defRPr>
            </a:pPr>
            <a:r>
              <a:t>• Zero-Migration Architecture: Reuses existing `Expert` table and `FarmerMemory.expert_consultation_history` JSON for persistent consultation tracking with zero database schema migrations.</a:t>
            </a:r>
            <a:br/>
            <a:r>
              <a:t>• National Kisan Call Centre Fallback: If no local extension officer is active, automatically provides the official Government of India toll-free helpline (1800-180-1551).</a:t>
            </a:r>
            <a:br/>
            <a:r>
              <a:t>• SLA Guarantee: Informs farmer of default 30-minute callback window.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End-to-End WhatsApp Processing Lifecycle</a:t>
            </a:r>
          </a:p>
        </p:txBody>
      </p:sp>
      <p:sp>
        <p:nvSpPr>
          <p:cNvPr id="5" name="Rounded Rectangle 4"/>
          <p:cNvSpPr/>
          <p:nvPr/>
        </p:nvSpPr>
        <p:spPr>
          <a:xfrm>
            <a:off x="731520" y="1371600"/>
            <a:ext cx="1069848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10332720" cy="457200"/>
          </a:xfrm>
          <a:prstGeom prst="rect">
            <a:avLst/>
          </a:prstGeom>
          <a:noFill/>
        </p:spPr>
        <p:txBody>
          <a:bodyPr wrap="square">
            <a:spAutoFit/>
          </a:bodyPr>
          <a:lstStyle/>
          <a:p>
            <a:pPr>
              <a:defRPr sz="1400" b="1">
                <a:solidFill>
                  <a:srgbClr val="1B365D"/>
                </a:solidFill>
              </a:defRPr>
            </a:pPr>
            <a:r>
              <a:t>10-Step Message Execution Trace</a:t>
            </a:r>
          </a:p>
        </p:txBody>
      </p:sp>
      <p:sp>
        <p:nvSpPr>
          <p:cNvPr id="7" name="TextBox 6"/>
          <p:cNvSpPr txBox="1"/>
          <p:nvPr/>
        </p:nvSpPr>
        <p:spPr>
          <a:xfrm>
            <a:off x="914400" y="1965960"/>
            <a:ext cx="10332720" cy="4023360"/>
          </a:xfrm>
          <a:prstGeom prst="rect">
            <a:avLst/>
          </a:prstGeom>
          <a:noFill/>
        </p:spPr>
        <p:txBody>
          <a:bodyPr wrap="square">
            <a:spAutoFit/>
          </a:bodyPr>
          <a:lstStyle/>
          <a:p>
            <a:pPr>
              <a:defRPr sz="1200">
                <a:solidFill>
                  <a:srgbClr val="222222"/>
                </a:solidFill>
              </a:defRPr>
            </a:pPr>
            <a:r>
              <a:t>7. Sequential Enrichment &amp; Optimization: Executes Shops -&gt; Market Prices (deduplicated) -&gt; Weather -&gt; Schemes -&gt; Escalation -&gt; _finalize_whatsapp_response() whole-block budgeting (&lt;1600 chars).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AI Service Reliability &amp; Multi-Model Failover</a:t>
            </a:r>
          </a:p>
        </p:txBody>
      </p:sp>
      <p:sp>
        <p:nvSpPr>
          <p:cNvPr id="5" name="Rounded Rectangle 4"/>
          <p:cNvSpPr/>
          <p:nvPr/>
        </p:nvSpPr>
        <p:spPr>
          <a:xfrm>
            <a:off x="7315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1B365D"/>
                </a:solidFill>
              </a:defRPr>
            </a:pPr>
            <a:r>
              <a:t>Multi-Tier LLM Failover Chain</a:t>
            </a:r>
          </a:p>
        </p:txBody>
      </p:sp>
      <p:sp>
        <p:nvSpPr>
          <p:cNvPr id="7" name="TextBox 6"/>
          <p:cNvSpPr txBox="1"/>
          <p:nvPr/>
        </p:nvSpPr>
        <p:spPr>
          <a:xfrm>
            <a:off x="914400" y="1965960"/>
            <a:ext cx="4754880" cy="3840480"/>
          </a:xfrm>
          <a:prstGeom prst="rect">
            <a:avLst/>
          </a:prstGeom>
          <a:noFill/>
        </p:spPr>
        <p:txBody>
          <a:bodyPr wrap="square">
            <a:spAutoFit/>
          </a:bodyPr>
          <a:lstStyle/>
          <a:p>
            <a:pPr>
              <a:defRPr sz="1200">
                <a:solidFill>
                  <a:srgbClr val="222222"/>
                </a:solidFill>
              </a:defRPr>
            </a:pPr>
            <a:r>
              <a:t>• Primary Model: `gemini-3.5-flash-lite` (Ultra-low latency, high throughput default)</a:t>
            </a:r>
            <a:br/>
            <a:r>
              <a:t>• Fallback Tier 1: `gemini-3.5-flash` (Balanced secondary model)</a:t>
            </a:r>
            <a:br/>
            <a:r>
              <a:t>• Fallback Tier 2: `gemini-flash-latest` (High-availability tertiary backup)</a:t>
            </a:r>
            <a:br/>
            <a:r>
              <a:t>• Automated Failover Logic: `src/ai/gemini_client.py` catches HTTP 503, `ResourceExhausted`, or timeout exceptions and automatically retries the next model in the chain.</a:t>
            </a:r>
            <a:br/>
            <a:r>
              <a:t>• Timeout Budget: 10s execution budget per model attempt.</a:t>
            </a:r>
          </a:p>
        </p:txBody>
      </p:sp>
      <p:sp>
        <p:nvSpPr>
          <p:cNvPr id="8" name="Rounded Rectangle 7"/>
          <p:cNvSpPr/>
          <p:nvPr/>
        </p:nvSpPr>
        <p:spPr>
          <a:xfrm>
            <a:off x="62179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Pipeline Exception Isolation</a:t>
            </a:r>
          </a:p>
        </p:txBody>
      </p:sp>
      <p:sp>
        <p:nvSpPr>
          <p:cNvPr id="10" name="TextBox 9"/>
          <p:cNvSpPr txBox="1"/>
          <p:nvPr/>
        </p:nvSpPr>
        <p:spPr>
          <a:xfrm>
            <a:off x="6400800" y="1965960"/>
            <a:ext cx="4754880" cy="3840480"/>
          </a:xfrm>
          <a:prstGeom prst="rect">
            <a:avLst/>
          </a:prstGeom>
          <a:noFill/>
        </p:spPr>
        <p:txBody>
          <a:bodyPr wrap="square">
            <a:spAutoFit/>
          </a:bodyPr>
          <a:lstStyle/>
          <a:p>
            <a:pPr>
              <a:defRPr sz="1200">
                <a:solidFill>
                  <a:srgbClr val="222222"/>
                </a:solidFill>
              </a:defRPr>
            </a:pPr>
            <a:r>
              <a:t>• Independent Try-Except Wrappers: Every domain enrichment stage is enclosed in a separate try-except block.</a:t>
            </a:r>
            <a:br/>
            <a:r>
              <a:t>• Graceful Degradation: If OpenWeatherMap or Agmarknet APIs are temporarily unavailable, the core AI advisory is still delivered to the farmer without interruption.</a:t>
            </a:r>
            <a:br/>
            <a:r>
              <a:t>• In-Process Caching: 1800s TTL for weather forecasts and 21600s TTL for market prices prevent redundant external API hits.</a:t>
            </a:r>
            <a:br/>
            <a:r>
              <a:t>• Database Connection Resilience: Automated SSL parameter normalization in `src/core/database.py`.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Verification &amp; Automated Testing: 289/289 Tests Passing</a:t>
            </a:r>
          </a:p>
        </p:txBody>
      </p:sp>
      <p:sp>
        <p:nvSpPr>
          <p:cNvPr id="5" name="Rounded Rectangle 4"/>
          <p:cNvSpPr/>
          <p:nvPr/>
        </p:nvSpPr>
        <p:spPr>
          <a:xfrm>
            <a:off x="7315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1B365D"/>
                </a:solidFill>
              </a:defRPr>
            </a:pPr>
            <a:r>
              <a:t>Automated Test Suite Distribution</a:t>
            </a:r>
          </a:p>
        </p:txBody>
      </p:sp>
      <p:sp>
        <p:nvSpPr>
          <p:cNvPr id="7" name="TextBox 6"/>
          <p:cNvSpPr txBox="1"/>
          <p:nvPr/>
        </p:nvSpPr>
        <p:spPr>
          <a:xfrm>
            <a:off x="914400" y="1965960"/>
            <a:ext cx="4754880" cy="3840480"/>
          </a:xfrm>
          <a:prstGeom prst="rect">
            <a:avLst/>
          </a:prstGeom>
          <a:noFill/>
        </p:spPr>
        <p:txBody>
          <a:bodyPr wrap="square">
            <a:spAutoFit/>
          </a:bodyPr>
          <a:lstStyle/>
          <a:p>
            <a:pPr>
              <a:defRPr sz="1200">
                <a:solidFill>
                  <a:srgbClr val="222222"/>
                </a:solidFill>
              </a:defRPr>
            </a:pPr>
            <a:r>
              <a:t>• Mandi Prices (test_market.py): 24 tests • Weather (test_weather.py): 21 tests • Schemes (test_schemes.py): 12 tests • Shops &amp; Inventory (test_shops.py, test_inventory.py): 30 tests • Escalation (test_escalation.py): 23 tests • Auth &amp; RBAC (test_auth.py): 22 tests • Hybrid RAG (test_rag.py): 25 tests • Response Assembly (test_response_assembly.py): 26 tests • Webhook Flow: 6 tests • Payments: 6 tests • Farmers, Crops &amp; Core CRUD: 94 tests</a:t>
            </a:r>
          </a:p>
        </p:txBody>
      </p:sp>
      <p:sp>
        <p:nvSpPr>
          <p:cNvPr id="8" name="Rounded Rectangle 7"/>
          <p:cNvSpPr/>
          <p:nvPr/>
        </p:nvSpPr>
        <p:spPr>
          <a:xfrm>
            <a:off x="62179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Verification Verdict &amp; Metrics</a:t>
            </a:r>
          </a:p>
        </p:txBody>
      </p:sp>
      <p:sp>
        <p:nvSpPr>
          <p:cNvPr id="10" name="TextBox 9"/>
          <p:cNvSpPr txBox="1"/>
          <p:nvPr/>
        </p:nvSpPr>
        <p:spPr>
          <a:xfrm>
            <a:off x="6400800" y="1965960"/>
            <a:ext cx="4754880" cy="3840480"/>
          </a:xfrm>
          <a:prstGeom prst="rect">
            <a:avLst/>
          </a:prstGeom>
          <a:noFill/>
        </p:spPr>
        <p:txBody>
          <a:bodyPr wrap="square">
            <a:spAutoFit/>
          </a:bodyPr>
          <a:lstStyle/>
          <a:p>
            <a:pPr>
              <a:defRPr sz="1200">
                <a:solidFill>
                  <a:srgbClr val="222222"/>
                </a:solidFill>
              </a:defRPr>
            </a:pPr>
            <a:r>
              <a:t>• Total Tests: 289 Automated Tests</a:t>
            </a:r>
            <a:br/>
            <a:r>
              <a:t>• Passed: 289 (100% Pass Rate)</a:t>
            </a:r>
            <a:br/>
            <a:r>
              <a:t>• Failures: 0</a:t>
            </a:r>
            <a:br/>
            <a:r>
              <a:t>• Errors: 0</a:t>
            </a:r>
            <a:br/>
            <a:r>
              <a:t>• Execution Time: ~1.5 seconds</a:t>
            </a:r>
            <a:br/>
            <a:r>
              <a:t>• Test Coverage: Unit tests, integration tests, response assembly anti-duplication, and external API mocking.</a:t>
            </a:r>
            <a:br/>
            <a:r>
              <a:t>• Full Suite Command: `./.venv/bin/python3 -m pytest -q`</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Security Architecture &amp; Data Privacy</a:t>
            </a:r>
          </a:p>
        </p:txBody>
      </p:sp>
      <p:sp>
        <p:nvSpPr>
          <p:cNvPr id="5" name="Rounded Rectangle 4"/>
          <p:cNvSpPr/>
          <p:nvPr/>
        </p:nvSpPr>
        <p:spPr>
          <a:xfrm>
            <a:off x="7315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1B365D"/>
                </a:solidFill>
              </a:defRPr>
            </a:pPr>
            <a:r>
              <a:t>Security &amp; Authentication Controls</a:t>
            </a:r>
          </a:p>
        </p:txBody>
      </p:sp>
      <p:sp>
        <p:nvSpPr>
          <p:cNvPr id="7" name="TextBox 6"/>
          <p:cNvSpPr txBox="1"/>
          <p:nvPr/>
        </p:nvSpPr>
        <p:spPr>
          <a:xfrm>
            <a:off x="914400" y="1965960"/>
            <a:ext cx="4754880" cy="3840480"/>
          </a:xfrm>
          <a:prstGeom prst="rect">
            <a:avLst/>
          </a:prstGeom>
          <a:noFill/>
        </p:spPr>
        <p:txBody>
          <a:bodyPr wrap="square">
            <a:spAutoFit/>
          </a:bodyPr>
          <a:lstStyle/>
          <a:p>
            <a:pPr>
              <a:defRPr sz="1200">
                <a:solidFill>
                  <a:srgbClr val="222222"/>
                </a:solidFill>
              </a:defRPr>
            </a:pPr>
            <a:r>
              <a:t>• Webhook Cryptographic Authentication: Validates `X-Hub-Signature-256` HMAC-SHA256 signature using `WHATSAPP_APP_SECRET`.</a:t>
            </a:r>
            <a:br/>
            <a:r>
              <a:t>• SQL Injection Prevention: 100% parameterized queries via SQLAlchemy 2.0 ORM expressions.</a:t>
            </a:r>
            <a:br/>
            <a:r>
              <a:t>• Credential Protection: Zero hardcoded API keys or secrets in source code; managed strictly via `.env`.</a:t>
            </a:r>
            <a:br/>
            <a:r>
              <a:t>• Farmer Data Privacy: Phone numbers and farm coordinates are protected within PostgreSQL.</a:t>
            </a:r>
          </a:p>
        </p:txBody>
      </p:sp>
      <p:sp>
        <p:nvSpPr>
          <p:cNvPr id="8" name="Rounded Rectangle 7"/>
          <p:cNvSpPr/>
          <p:nvPr/>
        </p:nvSpPr>
        <p:spPr>
          <a:xfrm>
            <a:off x="62179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Deployment Readiness</a:t>
            </a:r>
          </a:p>
        </p:txBody>
      </p:sp>
      <p:sp>
        <p:nvSpPr>
          <p:cNvPr id="10" name="TextBox 9"/>
          <p:cNvSpPr txBox="1"/>
          <p:nvPr/>
        </p:nvSpPr>
        <p:spPr>
          <a:xfrm>
            <a:off x="6400800" y="1965960"/>
            <a:ext cx="4754880" cy="3840480"/>
          </a:xfrm>
          <a:prstGeom prst="rect">
            <a:avLst/>
          </a:prstGeom>
          <a:noFill/>
        </p:spPr>
        <p:txBody>
          <a:bodyPr wrap="square">
            <a:spAutoFit/>
          </a:bodyPr>
          <a:lstStyle/>
          <a:p>
            <a:pPr>
              <a:defRPr sz="1200">
                <a:solidFill>
                  <a:srgbClr val="222222"/>
                </a:solidFill>
              </a:defRPr>
            </a:pPr>
            <a:r>
              <a:t>• Infrastructure-as-Code: Validated `render.yaml` specification for cloud hosting.</a:t>
            </a:r>
            <a:br/>
            <a:r>
              <a:t>• Process Architecture: Gunicorn with 2 Uvicorn async workers.</a:t>
            </a:r>
            <a:br/>
            <a:r>
              <a:t>• Dynamic Port Binding: Binds to `$PORT` for cloud PaaS compatibility.</a:t>
            </a:r>
            <a:br/>
            <a:r>
              <a:t>• Database Normalization: Automatically converts `postgres://` to `postgresql+asyncpg://` with SSL enforcement.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D99B00"/>
                </a:solidFill>
              </a:defRPr>
            </a:pPr>
            <a:r>
              <a:t>BHOOMIMITRA AI | B.TECH CSE FINAL PROJECT</a:t>
            </a:r>
          </a:p>
          <a:p>
            <a:pPr>
              <a:defRPr sz="2200" b="1">
                <a:solidFill>
                  <a:srgbClr val="FFFFFF"/>
                </a:solidFill>
              </a:defRPr>
            </a:pPr>
            <a:r>
              <a:t>Project Limitations &amp; Future Roadmap</a:t>
            </a:r>
          </a:p>
        </p:txBody>
      </p:sp>
      <p:sp>
        <p:nvSpPr>
          <p:cNvPr id="5" name="Rounded Rectangle 4"/>
          <p:cNvSpPr/>
          <p:nvPr/>
        </p:nvSpPr>
        <p:spPr>
          <a:xfrm>
            <a:off x="7315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57200"/>
          </a:xfrm>
          <a:prstGeom prst="rect">
            <a:avLst/>
          </a:prstGeom>
          <a:noFill/>
        </p:spPr>
        <p:txBody>
          <a:bodyPr wrap="square">
            <a:spAutoFit/>
          </a:bodyPr>
          <a:lstStyle/>
          <a:p>
            <a:pPr>
              <a:defRPr sz="1400" b="1">
                <a:solidFill>
                  <a:srgbClr val="C0392B"/>
                </a:solidFill>
              </a:defRPr>
            </a:pPr>
            <a:r>
              <a:t>Current System Limitations</a:t>
            </a:r>
          </a:p>
        </p:txBody>
      </p:sp>
      <p:sp>
        <p:nvSpPr>
          <p:cNvPr id="7" name="TextBox 6"/>
          <p:cNvSpPr txBox="1"/>
          <p:nvPr/>
        </p:nvSpPr>
        <p:spPr>
          <a:xfrm>
            <a:off x="914400" y="1965960"/>
            <a:ext cx="4754880" cy="3840480"/>
          </a:xfrm>
          <a:prstGeom prst="rect">
            <a:avLst/>
          </a:prstGeom>
          <a:noFill/>
        </p:spPr>
        <p:txBody>
          <a:bodyPr wrap="square">
            <a:spAutoFit/>
          </a:bodyPr>
          <a:lstStyle/>
          <a:p>
            <a:pPr>
              <a:defRPr sz="1200">
                <a:solidFill>
                  <a:srgbClr val="222222"/>
                </a:solidFill>
              </a:defRPr>
            </a:pPr>
            <a:r>
              <a:t>• External API Rate Limits: Live Agmarknet and OpenWeather feeds depend on upstream network availability (mitigated by local DB fallbacks).</a:t>
            </a:r>
            <a:br/>
            <a:r>
              <a:t>• Colloquial Audio Variations: Heavy background noise or extreme dialectal variations can occasionally impact Speech-to-Text accuracy.</a:t>
            </a:r>
            <a:br/>
            <a:r>
              <a:t>• Demonstration Baseline Datasets: Seeded shops and officers are demonstration records for testing; production field deployment requires registering real departmental contacts.</a:t>
            </a:r>
          </a:p>
        </p:txBody>
      </p:sp>
      <p:sp>
        <p:nvSpPr>
          <p:cNvPr id="8" name="Rounded Rectangle 7"/>
          <p:cNvSpPr/>
          <p:nvPr/>
        </p:nvSpPr>
        <p:spPr>
          <a:xfrm>
            <a:off x="6217920" y="1371600"/>
            <a:ext cx="5120640" cy="4846320"/>
          </a:xfrm>
          <a:prstGeom prst="roundRect">
            <a:avLst/>
          </a:prstGeom>
          <a:solidFill>
            <a:srgbClr val="FFFFFF"/>
          </a:solidFill>
          <a:ln w="19050">
            <a:solidFill>
              <a:srgbClr val="D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754880" cy="457200"/>
          </a:xfrm>
          <a:prstGeom prst="rect">
            <a:avLst/>
          </a:prstGeom>
          <a:noFill/>
        </p:spPr>
        <p:txBody>
          <a:bodyPr wrap="square">
            <a:spAutoFit/>
          </a:bodyPr>
          <a:lstStyle/>
          <a:p>
            <a:pPr>
              <a:defRPr sz="1400" b="1">
                <a:solidFill>
                  <a:srgbClr val="2E6B38"/>
                </a:solidFill>
              </a:defRPr>
            </a:pPr>
            <a:r>
              <a:t>Future Enhancements Roadmap</a:t>
            </a:r>
          </a:p>
        </p:txBody>
      </p:sp>
      <p:sp>
        <p:nvSpPr>
          <p:cNvPr id="10" name="TextBox 9"/>
          <p:cNvSpPr txBox="1"/>
          <p:nvPr/>
        </p:nvSpPr>
        <p:spPr>
          <a:xfrm>
            <a:off x="6400800" y="1965960"/>
            <a:ext cx="4754880" cy="3840480"/>
          </a:xfrm>
          <a:prstGeom prst="rect">
            <a:avLst/>
          </a:prstGeom>
          <a:noFill/>
        </p:spPr>
        <p:txBody>
          <a:bodyPr wrap="square">
            <a:spAutoFit/>
          </a:bodyPr>
          <a:lstStyle/>
          <a:p>
            <a:pPr>
              <a:defRPr sz="1200">
                <a:solidFill>
                  <a:srgbClr val="222222"/>
                </a:solidFill>
              </a:defRPr>
            </a:pPr>
            <a:r>
              <a:t>• Satellite Remote Sensing &amp; NDVI: Ingest Sentinel-2 multispectral imagery for regional crop health monitoring. • IVR Telephony Gateway: Automated voice calling for illiterate farmers on basic feature phones. • Soil Health Card (SHC) OCR: Ingest soil test card photos to auto-compute customized NPK fertilizer ratios. • Extension Officer WhatsApp Alerts: Automated alerts to Mandal Agriculture Officer WhatsApp groups.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62895" cy="4754880"/>
          </a:xfrm>
          <a:prstGeom prst="rect">
            <a:avLst/>
          </a:prstGeom>
          <a:noFill/>
        </p:spPr>
        <p:txBody>
          <a:bodyPr wrap="square">
            <a:spAutoFit/>
          </a:bodyPr>
          <a:lstStyle/>
          <a:p>
            <a:pPr algn="ctr">
              <a:defRPr sz="3600" b="1">
                <a:solidFill>
                  <a:srgbClr val="D99B00"/>
                </a:solidFill>
              </a:defRPr>
            </a:pPr>
            <a:r>
              <a:t>CONCLUSION</a:t>
            </a:r>
          </a:p>
          <a:p>
            <a:pPr>
              <a:defRPr sz="1500">
                <a:solidFill>
                  <a:srgbClr val="FFFFFF"/>
                </a:solidFill>
              </a:defRPr>
            </a:pPr>
            <a:br/>
            <a:r>
              <a:t>• BhoomiMitra AI delivers a production-grade, AI-powered agricultural assistant operating natively on WhatsApp.</a:t>
            </a:r>
            <a:br/>
            <a:r>
              <a:t>• Eliminates chemical dosage hallucinations via university-grounded RAG (ICAR &amp; PJTSAU).</a:t>
            </a:r>
            <a:br/>
            <a:r>
              <a:t>• Seamlessly unifies 5 core agricultural domains: Input Shops, Mandi Prices, Weather Alerts, Government Schemes, and AEO Escalation.</a:t>
            </a:r>
            <a:br/>
            <a:r>
              <a:t>• Fluid bilingual support in Telugu and English with multimodal text, voice, and image diagnosis.</a:t>
            </a:r>
            <a:br/>
            <a:r>
              <a:t>• High operational resilience backed by multi-tier Gemini failover and 289/289 passing automated tests across 25 test suites.</a:t>
            </a:r>
          </a:p>
          <a:p>
            <a:br/>
            <a:br/>
            <a:pPr algn="ctr">
              <a:defRPr sz="2000" b="1">
                <a:solidFill>
                  <a:srgbClr val="D99B00"/>
                </a:solidFill>
              </a:defRPr>
            </a:pPr>
            <a:r>
              <a:t>Thank You! Open for Questions &amp;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